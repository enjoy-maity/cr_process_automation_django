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06" r:id="rId2"/>
    <p:sldId id="1109" r:id="rId3"/>
    <p:sldId id="268" r:id="rId4"/>
    <p:sldId id="266" r:id="rId5"/>
    <p:sldId id="1110" r:id="rId6"/>
    <p:sldId id="1112" r:id="rId7"/>
    <p:sldId id="11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D81"/>
    <a:srgbClr val="BD95F9"/>
    <a:srgbClr val="EA9600"/>
    <a:srgbClr val="EAF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0588-9F9E-4778-918C-000F47100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F90C-A796-4EFF-8FE7-09BFF3313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A4146-A0C3-473B-8013-BC9831F7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31A24-DE6B-471E-A46E-4604A0397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C80D3-E9A1-4B76-B1C5-86D0CD5D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86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9FDC-ACBA-4918-B5E1-2A08E535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86FC6-27F7-4611-99E4-4D1CAFE92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6D41-412E-439C-ACCB-1BF9CD88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FEF11-5969-46B4-8FEF-D3F17984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6657-2372-4547-80AB-9FEF6624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8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F685-2C73-41BF-9EDB-1159C24E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38685-94CB-4B2B-9E94-A326DB268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E9AD-6D15-4779-A2F4-8C90E0E0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3CB2B-D1A3-4099-9739-FA394957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EFAC6-7F0A-4934-8613-1E4FF6C9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0720-4B0E-4B07-A2F4-7DBD633A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66C0-24DE-41AA-B73F-76596D7B8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A0CF9-53B4-4246-9F82-366E7FAB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3ECF4-AB60-4DF7-9509-ECCD1723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D6F57-6AA4-4021-AF7E-5C10DA3A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5BB97-3D9E-4654-879C-A4B79F06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6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2FCE-FF73-47A5-AC56-154C9DABF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D8654-A2CF-4F6B-BABA-872750CB3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3B00C-68AE-4C4E-82A1-E4D23F8B5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01859-8914-4461-8228-AEE4082DB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AC61A-7227-4729-A91B-B5FF38C89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0BCE9-4750-4A76-8742-0EBD9590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FAD52-3796-4FBB-AB5D-B8BAFBE3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0E008-5BDF-4213-904E-154B9571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BEBE-76F1-416B-8202-5B2ACF4F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0A25C-01D8-458B-86ED-5EFB68E6F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3D1E5-B394-4D45-85C2-E47D4238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7A980-FBEF-4C9D-A350-E4C4B1E39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0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93898-4EB6-4E61-9A23-8F9DDFC41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8B590-7F99-4A4D-899F-4A853443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44A23-8C93-4ECC-A60F-291AE850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7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3CB5-AF89-42AB-86E3-3FE32EF9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61924-7016-4B02-99FE-C0A64B8E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98C2-5397-4407-8A74-2C2C5D886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3E218-101B-417E-9DA0-F7A23B44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1F134-D1D3-43C1-9961-080B56CE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854A0-02C7-4A61-9D20-139B1FA3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6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D1B6-7AF9-49A4-8A69-B60780B2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CFF00-8116-41AE-83AD-513F7F1A3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053DD-B308-46BA-A9B7-3A098AAA7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40651-38F7-482C-9FAF-E1EAF571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7BFAC-ABA8-41CF-9F38-C70E0A53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782F8-7838-4C1E-9201-AF14C774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D7EB-797F-4326-B613-F0AF127D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8E968-93C8-4244-A86F-EFDDD7E9D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130B-547A-483D-9017-A2FFFF10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FA743-1CF7-4AB3-9200-EE4FC850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A799E-4106-41B2-BE38-F6CE4887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54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BECE9B-7E90-4374-A949-95C876400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E6AB0-E70B-4622-B060-8CFE17817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D6599-37F3-4B1D-8643-3571E01A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C9D41-B95B-4C6C-B7F1-C8BB1C40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2E25-0B11-47E7-A17D-0FB65502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39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6000" b="0" kern="1400" spc="-160" baseline="0">
                <a:latin typeface="+mj-lt"/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Ericsson Hilda Light 60pt,</a:t>
            </a:r>
            <a:br>
              <a:rPr lang="en-US" dirty="0"/>
            </a:br>
            <a:r>
              <a:rPr lang="en-US" dirty="0"/>
              <a:t>Ericsson Black,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Presentation description/subtitle</a:t>
            </a:r>
            <a:br>
              <a:rPr lang="en-US" dirty="0"/>
            </a:br>
            <a:r>
              <a:rPr lang="en-US" dirty="0"/>
              <a:t>Ericsson Hilda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37288"/>
            <a:ext cx="1910479" cy="287336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200">
                <a:latin typeface="+mn-lt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37287"/>
            <a:ext cx="2515041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anchor="b"/>
          <a:lstStyle>
            <a:lvl1pPr marL="0" indent="0" algn="ctr">
              <a:buNone/>
              <a:defRPr lang="en-US" sz="1200" dirty="0">
                <a:latin typeface="+mn-lt"/>
              </a:defRPr>
            </a:lvl1pPr>
          </a:lstStyle>
          <a:p>
            <a:r>
              <a:rPr lang="en-US" dirty="0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37287"/>
            <a:ext cx="897503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anchor="b"/>
          <a:lstStyle>
            <a:lvl1pPr marL="0" indent="0" algn="ctr">
              <a:buNone/>
              <a:defRPr lang="en-US" sz="1200" dirty="0">
                <a:latin typeface="+mn-lt"/>
              </a:defRPr>
            </a:lvl1pPr>
          </a:lstStyle>
          <a:p>
            <a:pPr lvl="0"/>
            <a:r>
              <a:rPr lang="en-US" dirty="0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286520494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30C8C-6B43-46DF-A105-161097D2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3EA58-B6B3-476C-896F-5A70B1A34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E2429-0100-470D-8E20-91D424B62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6538D-099A-43D8-BB49-05E9EC134034}" type="datetimeFigureOut">
              <a:rPr lang="en-US" smtClean="0"/>
              <a:t>3/8/2021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99DBF-4C72-4620-AFAA-0E09F1F1F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A1241-CE8A-4FFF-A7ED-F00CC7F97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19191-5563-4E9F-B6C8-2D3F69F39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2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0" y="6448926"/>
            <a:ext cx="12192000" cy="409074"/>
          </a:xfrm>
          <a:prstGeom prst="rect">
            <a:avLst/>
          </a:prstGeom>
          <a:pattFill prst="diagBrick">
            <a:fgClr>
              <a:srgbClr val="002060"/>
            </a:fgClr>
            <a:bgClr>
              <a:schemeClr val="bg1"/>
            </a:bgClr>
          </a:pattFill>
          <a:ln w="12700">
            <a:noFill/>
            <a:miter lim="800000"/>
            <a:headEnd/>
            <a:tailEnd/>
          </a:ln>
        </p:spPr>
        <p:txBody>
          <a:bodyPr vert="horz" wrap="square" lIns="72000" tIns="36000" rIns="73152" bIns="36576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4488" indent="-344488">
              <a:buClr>
                <a:schemeClr val="tx1"/>
              </a:buClr>
              <a:buFont typeface="Ericsson Hilda Light" panose="00000400000000000000" pitchFamily="2" charset="0"/>
              <a:buChar char="—"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0" y="0"/>
            <a:ext cx="12192000" cy="411480"/>
          </a:xfrm>
          <a:prstGeom prst="rect">
            <a:avLst/>
          </a:prstGeom>
          <a:pattFill prst="diagBrick">
            <a:fgClr>
              <a:srgbClr val="002060"/>
            </a:fgClr>
            <a:bgClr>
              <a:schemeClr val="bg1"/>
            </a:bgClr>
          </a:pattFill>
          <a:ln w="12700">
            <a:noFill/>
            <a:miter lim="800000"/>
            <a:headEnd/>
            <a:tailEnd/>
          </a:ln>
        </p:spPr>
        <p:txBody>
          <a:bodyPr vert="horz" wrap="square" lIns="72000" tIns="36000" rIns="73152" bIns="36576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4488" indent="-344488">
              <a:buClr>
                <a:schemeClr val="tx1"/>
              </a:buClr>
              <a:buFont typeface="Ericsson Hilda Light" panose="00000400000000000000" pitchFamily="2" charset="0"/>
              <a:buChar char="—"/>
            </a:pP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028" name="Picture 4" descr="The Ultimate Guide to Marketing Automation | DMI">
            <a:extLst>
              <a:ext uri="{FF2B5EF4-FFF2-40B4-BE49-F238E27FC236}">
                <a16:creationId xmlns:a16="http://schemas.microsoft.com/office/drawing/2014/main" id="{50D9BD43-7749-4AFD-AC43-A4044BD0A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0277"/>
            <a:ext cx="12192000" cy="603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7000" contras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622" t="11197" r="29512" b="34978"/>
          <a:stretch/>
        </p:blipFill>
        <p:spPr>
          <a:xfrm>
            <a:off x="11428543" y="463493"/>
            <a:ext cx="602990" cy="7165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B2629E-8BB3-4C7F-8506-C34F159FD2C6}"/>
              </a:ext>
            </a:extLst>
          </p:cNvPr>
          <p:cNvSpPr txBox="1"/>
          <p:nvPr/>
        </p:nvSpPr>
        <p:spPr>
          <a:xfrm>
            <a:off x="8293100" y="1447356"/>
            <a:ext cx="3898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360D81"/>
                </a:solidFill>
              </a:rPr>
              <a:t>MPBN  KPI  </a:t>
            </a:r>
            <a:r>
              <a:rPr lang="en-US" sz="4000" dirty="0">
                <a:solidFill>
                  <a:srgbClr val="360D81"/>
                </a:solidFill>
              </a:rPr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184716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5425A28-55B5-4D8D-A066-867B0BABF29A}"/>
              </a:ext>
            </a:extLst>
          </p:cNvPr>
          <p:cNvSpPr/>
          <p:nvPr/>
        </p:nvSpPr>
        <p:spPr>
          <a:xfrm>
            <a:off x="2959102" y="3413387"/>
            <a:ext cx="8610600" cy="2559503"/>
          </a:xfrm>
          <a:prstGeom prst="roundRect">
            <a:avLst>
              <a:gd name="adj" fmla="val 16670"/>
            </a:avLst>
          </a:prstGeom>
          <a:solidFill>
            <a:schemeClr val="accent1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7400067"/>
              <a:satOff val="-35707"/>
              <a:lumOff val="23528"/>
              <a:alphaOff val="0"/>
            </a:schemeClr>
          </a:fillRef>
          <a:effectRef idx="2">
            <a:schemeClr val="accent2">
              <a:hueOff val="7400067"/>
              <a:satOff val="-35707"/>
              <a:lumOff val="23528"/>
              <a:alphaOff val="0"/>
            </a:schemeClr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6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83" t="6000" r="31424" b="45579"/>
          <a:stretch/>
        </p:blipFill>
        <p:spPr bwMode="auto">
          <a:xfrm>
            <a:off x="11550314" y="131695"/>
            <a:ext cx="500273" cy="62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CA6795-53EE-48E2-9416-44161BA6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64" y="225529"/>
            <a:ext cx="8357636" cy="438384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Ericsson Hilda" panose="00000500000000000000" pitchFamily="2" charset="0"/>
              </a:rPr>
              <a:t>MPBN KPI Automation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12E17A-3690-40E4-9003-7393789611A5}"/>
              </a:ext>
            </a:extLst>
          </p:cNvPr>
          <p:cNvSpPr/>
          <p:nvPr/>
        </p:nvSpPr>
        <p:spPr>
          <a:xfrm>
            <a:off x="242850" y="1644203"/>
            <a:ext cx="1146655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rgbClr val="0FC373">
                    <a:lumMod val="75000"/>
                  </a:srgbClr>
                </a:solidFill>
                <a:latin typeface="Ericsson Hilda"/>
              </a:rPr>
              <a:t>Solution and Implementation: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sz="1200" dirty="0">
                <a:latin typeface="Ericsson Hilda" panose="00000500000000000000" pitchFamily="2" charset="0"/>
                <a:ea typeface="MS PGothic" pitchFamily="34" charset="-128"/>
              </a:rPr>
              <a:t>"MPBN KPI Automation" is proposed to address the risk and strengthen CR post checks and auto pre-post comparison of important MPBN KPIs. Below parameters are considered under the scope of this automation.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endParaRPr lang="en-US" sz="1200" dirty="0">
              <a:latin typeface="Ericsson Hilda" panose="00000500000000000000" pitchFamily="2" charset="0"/>
              <a:ea typeface="MS PGothic" pitchFamily="34" charset="-128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sz="1200" b="1" dirty="0">
                <a:solidFill>
                  <a:schemeClr val="accent1"/>
                </a:solidFill>
              </a:rPr>
              <a:t>Prefix-List	5. BGP Status		9. LAG Status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sz="1200" b="1" dirty="0">
                <a:solidFill>
                  <a:schemeClr val="accent1"/>
                </a:solidFill>
              </a:rPr>
              <a:t>Route Policy	6. VRRP/HSRP Status	10. Hardware Status (CPU &amp; Memory Utilization)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sz="1200" b="1" dirty="0">
                <a:solidFill>
                  <a:schemeClr val="accent1"/>
                </a:solidFill>
              </a:rPr>
              <a:t>Route Table	7. BFD Status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sz="1200" b="1" dirty="0">
                <a:solidFill>
                  <a:schemeClr val="accent1"/>
                </a:solidFill>
              </a:rPr>
              <a:t>ARP Table Entry	8. Port Status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785E676-3BAD-4F8B-BD07-6F7194692522}"/>
              </a:ext>
            </a:extLst>
          </p:cNvPr>
          <p:cNvSpPr/>
          <p:nvPr/>
        </p:nvSpPr>
        <p:spPr>
          <a:xfrm>
            <a:off x="585750" y="3628393"/>
            <a:ext cx="1458949" cy="864494"/>
          </a:xfrm>
          <a:prstGeom prst="roundRect">
            <a:avLst>
              <a:gd name="adj" fmla="val 16670"/>
            </a:avLst>
          </a:prstGeom>
          <a:solidFill>
            <a:schemeClr val="accent5">
              <a:lumMod val="75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7400067"/>
              <a:satOff val="-35707"/>
              <a:lumOff val="23528"/>
              <a:alphaOff val="0"/>
            </a:schemeClr>
          </a:fillRef>
          <a:effectRef idx="2">
            <a:schemeClr val="accent2">
              <a:hueOff val="7400067"/>
              <a:satOff val="-35707"/>
              <a:lumOff val="23528"/>
              <a:alphaOff val="0"/>
            </a:schemeClr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MPBN Nodes Upload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(Involved in CR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CD2DF7D-C357-408D-ABE7-93CE3DBE488F}"/>
              </a:ext>
            </a:extLst>
          </p:cNvPr>
          <p:cNvSpPr/>
          <p:nvPr/>
        </p:nvSpPr>
        <p:spPr>
          <a:xfrm>
            <a:off x="3298472" y="4208458"/>
            <a:ext cx="1717674" cy="1536752"/>
          </a:xfrm>
          <a:prstGeom prst="roundRect">
            <a:avLst>
              <a:gd name="adj" fmla="val 16670"/>
            </a:avLst>
          </a:prstGeom>
          <a:solidFill>
            <a:srgbClr val="00B050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7400067"/>
              <a:satOff val="-35707"/>
              <a:lumOff val="23528"/>
              <a:alphaOff val="0"/>
            </a:schemeClr>
          </a:fillRef>
          <a:effectRef idx="2">
            <a:schemeClr val="accent2">
              <a:hueOff val="7400067"/>
              <a:satOff val="-35707"/>
              <a:lumOff val="23528"/>
              <a:alphaOff val="0"/>
            </a:schemeClr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MPBN KPI Main Dashboard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DAF6132-48CA-425B-8D5E-84232DF70871}"/>
              </a:ext>
            </a:extLst>
          </p:cNvPr>
          <p:cNvSpPr/>
          <p:nvPr/>
        </p:nvSpPr>
        <p:spPr>
          <a:xfrm>
            <a:off x="6060984" y="4618277"/>
            <a:ext cx="2060221" cy="717115"/>
          </a:xfrm>
          <a:prstGeom prst="roundRect">
            <a:avLst>
              <a:gd name="adj" fmla="val 16670"/>
            </a:avLst>
          </a:prstGeom>
          <a:solidFill>
            <a:srgbClr val="00B0F0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7400067"/>
              <a:satOff val="-35707"/>
              <a:lumOff val="23528"/>
              <a:alphaOff val="0"/>
            </a:schemeClr>
          </a:fillRef>
          <a:effectRef idx="2">
            <a:schemeClr val="accent2">
              <a:hueOff val="7400067"/>
              <a:satOff val="-35707"/>
              <a:lumOff val="23528"/>
              <a:alphaOff val="0"/>
            </a:schemeClr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MPBN KPI Level-1 Hierarchy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0608AA7-10C8-4AF4-A0EB-E49C1780CBEE}"/>
              </a:ext>
            </a:extLst>
          </p:cNvPr>
          <p:cNvSpPr/>
          <p:nvPr/>
        </p:nvSpPr>
        <p:spPr>
          <a:xfrm>
            <a:off x="9166043" y="4618277"/>
            <a:ext cx="2060221" cy="717115"/>
          </a:xfrm>
          <a:prstGeom prst="roundRect">
            <a:avLst>
              <a:gd name="adj" fmla="val 16670"/>
            </a:avLst>
          </a:prstGeom>
          <a:solidFill>
            <a:srgbClr val="0070C0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7400067"/>
              <a:satOff val="-35707"/>
              <a:lumOff val="23528"/>
              <a:alphaOff val="0"/>
            </a:schemeClr>
          </a:fillRef>
          <a:effectRef idx="2">
            <a:schemeClr val="accent2">
              <a:hueOff val="7400067"/>
              <a:satOff val="-35707"/>
              <a:lumOff val="23528"/>
              <a:alphaOff val="0"/>
            </a:schemeClr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MPBN KPI Level-2 Hierarchy</a:t>
            </a: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D62E135E-0EFF-4CB4-90D8-88D0DF5ED7E1}"/>
              </a:ext>
            </a:extLst>
          </p:cNvPr>
          <p:cNvSpPr/>
          <p:nvPr/>
        </p:nvSpPr>
        <p:spPr bwMode="auto">
          <a:xfrm rot="16200000">
            <a:off x="5386734" y="4481805"/>
            <a:ext cx="314037" cy="1034463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lvl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ricsson Hilda"/>
              <a:ea typeface="+mn-ea"/>
              <a:cs typeface="+mn-cs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71BE62B1-8D75-4BF7-AC64-8EC5234D25E0}"/>
              </a:ext>
            </a:extLst>
          </p:cNvPr>
          <p:cNvSpPr/>
          <p:nvPr/>
        </p:nvSpPr>
        <p:spPr bwMode="auto">
          <a:xfrm rot="16200000">
            <a:off x="2389718" y="3529750"/>
            <a:ext cx="224365" cy="914402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lvl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ricsson Hilda"/>
              <a:ea typeface="+mn-ea"/>
              <a:cs typeface="+mn-cs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CF07C80-9C68-4AAB-A39A-1D5E581E7B39}"/>
              </a:ext>
            </a:extLst>
          </p:cNvPr>
          <p:cNvSpPr txBox="1">
            <a:spLocks/>
          </p:cNvSpPr>
          <p:nvPr/>
        </p:nvSpPr>
        <p:spPr>
          <a:xfrm>
            <a:off x="5282126" y="3628393"/>
            <a:ext cx="4298255" cy="438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MPBN KPI Automation Tool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FBE3EA76-5B2C-4424-B956-6D2E1EDD7CED}"/>
              </a:ext>
            </a:extLst>
          </p:cNvPr>
          <p:cNvSpPr/>
          <p:nvPr/>
        </p:nvSpPr>
        <p:spPr bwMode="auto">
          <a:xfrm rot="16200000">
            <a:off x="8500359" y="4481805"/>
            <a:ext cx="314037" cy="1034463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lvl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ricsson Hilda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86D49C-6C01-4FC4-ABC2-8B3AE3CCB988}"/>
              </a:ext>
            </a:extLst>
          </p:cNvPr>
          <p:cNvSpPr/>
          <p:nvPr/>
        </p:nvSpPr>
        <p:spPr>
          <a:xfrm>
            <a:off x="212643" y="802485"/>
            <a:ext cx="11226802" cy="717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sz="1400" b="1" u="sng" dirty="0">
                <a:solidFill>
                  <a:schemeClr val="accent1">
                    <a:lumMod val="75000"/>
                  </a:schemeClr>
                </a:solidFill>
                <a:latin typeface="Ericsson Hilda" panose="00000500000000000000" pitchFamily="2" charset="0"/>
              </a:rPr>
              <a:t>Requirement of MPBN KPI Automation: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400" dirty="0"/>
              <a:t>Currently pre-post checks for MPBN CRs are being done manually, Number of involved nodes are high and checks are exhaustive for many critical/major activities, which increases the quantum of work. There is a risk involve of unintentional manual miss due to high volumes of checks.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2EF364F-5CD3-49A3-8060-E5F8032BE08D}"/>
              </a:ext>
            </a:extLst>
          </p:cNvPr>
          <p:cNvSpPr/>
          <p:nvPr/>
        </p:nvSpPr>
        <p:spPr>
          <a:xfrm>
            <a:off x="1391804" y="6077226"/>
            <a:ext cx="1906668" cy="634794"/>
          </a:xfrm>
          <a:prstGeom prst="wedgeRectCallout">
            <a:avLst>
              <a:gd name="adj1" fmla="val 48376"/>
              <a:gd name="adj2" fmla="val -17778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This will display overall KPI status in one view for all involved nodes in all CRs assigned to the executor in a specific MW 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2D8485A8-6A54-4701-AC20-6110FE944354}"/>
              </a:ext>
            </a:extLst>
          </p:cNvPr>
          <p:cNvSpPr/>
          <p:nvPr/>
        </p:nvSpPr>
        <p:spPr>
          <a:xfrm>
            <a:off x="5282126" y="6101836"/>
            <a:ext cx="1717674" cy="634794"/>
          </a:xfrm>
          <a:prstGeom prst="wedgeRectCallout">
            <a:avLst>
              <a:gd name="adj1" fmla="val 62388"/>
              <a:gd name="adj2" fmla="val -16358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This will display summary of pre post comparison of a specific KPI from main dashboard in one click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0CB33862-EC59-4ED6-8DD9-BB5030539B3C}"/>
              </a:ext>
            </a:extLst>
          </p:cNvPr>
          <p:cNvSpPr/>
          <p:nvPr/>
        </p:nvSpPr>
        <p:spPr>
          <a:xfrm>
            <a:off x="8593800" y="6094831"/>
            <a:ext cx="1717674" cy="634794"/>
          </a:xfrm>
          <a:prstGeom prst="wedgeRectCallout">
            <a:avLst>
              <a:gd name="adj1" fmla="val 57992"/>
              <a:gd name="adj2" fmla="val -162259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This will display details of pre post comparison of a specific KPI from Level-1 hierarchy in one click</a:t>
            </a:r>
          </a:p>
        </p:txBody>
      </p:sp>
    </p:spTree>
    <p:extLst>
      <p:ext uri="{BB962C8B-B14F-4D97-AF65-F5344CB8AC3E}">
        <p14:creationId xmlns:p14="http://schemas.microsoft.com/office/powerpoint/2010/main" val="2720260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3CD3A1-A6FA-44DF-9E1B-FEC0D5415AF6}"/>
              </a:ext>
            </a:extLst>
          </p:cNvPr>
          <p:cNvSpPr txBox="1"/>
          <p:nvPr/>
        </p:nvSpPr>
        <p:spPr>
          <a:xfrm>
            <a:off x="2578298" y="440939"/>
            <a:ext cx="703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</a:rPr>
              <a:t>MPBN KPI Automation – Main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CA003-53F8-47C4-AD95-4E0CC03AC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6593"/>
            <a:ext cx="12192000" cy="430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3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3CD3A1-A6FA-44DF-9E1B-FEC0D5415AF6}"/>
              </a:ext>
            </a:extLst>
          </p:cNvPr>
          <p:cNvSpPr txBox="1"/>
          <p:nvPr/>
        </p:nvSpPr>
        <p:spPr>
          <a:xfrm>
            <a:off x="2634145" y="293756"/>
            <a:ext cx="694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</a:rPr>
              <a:t>IP Routing Summary – Level 1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  <a:cs typeface="Calibri" panose="020F0502020204030204" pitchFamily="34" charset="0"/>
              </a:rPr>
              <a:t>Hierarchy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Ericsson Hilda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965605-2F2B-4C8E-8CA7-629F31CC0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356"/>
            <a:ext cx="12192000" cy="401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22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3CD3A1-A6FA-44DF-9E1B-FEC0D5415AF6}"/>
              </a:ext>
            </a:extLst>
          </p:cNvPr>
          <p:cNvSpPr txBox="1"/>
          <p:nvPr/>
        </p:nvSpPr>
        <p:spPr>
          <a:xfrm>
            <a:off x="3034703" y="293756"/>
            <a:ext cx="6122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</a:rPr>
              <a:t>BFD Summary – Level 1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  <a:cs typeface="Calibri" panose="020F0502020204030204" pitchFamily="34" charset="0"/>
              </a:rPr>
              <a:t>Hierarchy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Ericsson Hilda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A64834-25F8-413D-BFA0-FB0398F66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1415114"/>
            <a:ext cx="12192000" cy="444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2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3CD3A1-A6FA-44DF-9E1B-FEC0D5415AF6}"/>
              </a:ext>
            </a:extLst>
          </p:cNvPr>
          <p:cNvSpPr txBox="1"/>
          <p:nvPr/>
        </p:nvSpPr>
        <p:spPr>
          <a:xfrm>
            <a:off x="3034703" y="293756"/>
            <a:ext cx="6939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</a:rPr>
              <a:t>Prefix List Details – Level 2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  <a:cs typeface="Calibri" panose="020F0502020204030204" pitchFamily="34" charset="0"/>
              </a:rPr>
              <a:t>Hierarchy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Ericsson Hilda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4BD351-BE5E-46B1-A22C-BEC3A493F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525833"/>
            <a:ext cx="12172950" cy="367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13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3CD3A1-A6FA-44DF-9E1B-FEC0D5415AF6}"/>
              </a:ext>
            </a:extLst>
          </p:cNvPr>
          <p:cNvSpPr txBox="1"/>
          <p:nvPr/>
        </p:nvSpPr>
        <p:spPr>
          <a:xfrm>
            <a:off x="3034703" y="293756"/>
            <a:ext cx="6939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</a:rPr>
              <a:t>ARP Entry Details – Level 2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Ericsson Hilda" panose="00000500000000000000" pitchFamily="2" charset="0"/>
                <a:cs typeface="Calibri" panose="020F0502020204030204" pitchFamily="34" charset="0"/>
              </a:rPr>
              <a:t>Hierarchy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Ericsson Hilda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C6808C-2621-4069-BFB8-EBF60A407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864"/>
            <a:ext cx="12192000" cy="530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9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4178</TotalTime>
  <Words>268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Ericsson Hilda</vt:lpstr>
      <vt:lpstr>Ericsson Hilda Light</vt:lpstr>
      <vt:lpstr>Wingdings</vt:lpstr>
      <vt:lpstr>Office Theme</vt:lpstr>
      <vt:lpstr>PowerPoint Presentation</vt:lpstr>
      <vt:lpstr>MPBN KPI Automation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Ankesh Verma</dc:creator>
  <cp:lastModifiedBy>Karan Loomba K</cp:lastModifiedBy>
  <cp:revision>1007</cp:revision>
  <dcterms:created xsi:type="dcterms:W3CDTF">2019-07-25T06:54:16Z</dcterms:created>
  <dcterms:modified xsi:type="dcterms:W3CDTF">2021-03-08T07:06:36Z</dcterms:modified>
</cp:coreProperties>
</file>